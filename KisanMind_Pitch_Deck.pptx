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2C55E"/>
                </a:solidFill>
                <a:latin typeface="Calibri"/>
              </a:defRPr>
            </a:pPr>
            <a:r>
              <a:t>KisanMind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BD5E1"/>
                </a:solidFill>
                <a:latin typeface="Calibri"/>
              </a:defRPr>
            </a:pPr>
            <a:r>
              <a:t>Satellite-to-Voice Agricultural Intelligence for 150M Indian Farmers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9933"/>
                </a:solidFill>
                <a:latin typeface="Calibri"/>
              </a:defRPr>
            </a:pPr>
            <a:r>
              <a:t>The Problem: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150M farming households make decisions worth Rs 45 lakh crore/year with: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800" b="1">
                <a:solidFill>
                  <a:srgbClr val="F43F5E"/>
                </a:solidFill>
                <a:latin typeface="Calibri"/>
              </a:defRPr>
            </a:pPr>
            <a:r>
              <a:t>   Zero satellite visibility on crop health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F43F5E"/>
                </a:solidFill>
                <a:latin typeface="Calibri"/>
              </a:defRPr>
            </a:pPr>
            <a:r>
              <a:t>   No real-time price comparison across mandis (30-40% daily fluctuation)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F43F5E"/>
                </a:solidFill>
                <a:latin typeface="Calibri"/>
              </a:defRPr>
            </a:pPr>
            <a:r>
              <a:t>   Generic weather forecasts useless for field-level decisions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F43F5E"/>
                </a:solidFill>
                <a:latin typeface="Calibri"/>
              </a:defRPr>
            </a:pPr>
            <a:r>
              <a:t>   Language barrier: advisory only in English/Hindi, useless for 60%+ farmers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ET AI Hackathon 2026  |  Problem #5: Domain-Specialized AI Agents  |  kisanmind.dmj.one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Phone Call. Six Data Sources. 22 Languages.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54864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18872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38BDF8"/>
                </a:solidFill>
                <a:latin typeface="Calibri"/>
              </a:defRPr>
            </a:pPr>
            <a:r>
              <a:t>Farmer says: "Main Solan mein tamatar uga raha hoon"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400" b="0">
                <a:solidFill>
                  <a:srgbClr val="CBD5E1"/>
                </a:solidFill>
                <a:latin typeface="Calibri"/>
              </a:defRPr>
            </a:pPr>
            <a:r>
              <a:t>KisanMind responds in 15 seconds with: Crop health (NDVI 0.54 from Sentinel-2) + Best mandi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CBD5E1"/>
                </a:solidFill>
                <a:latin typeface="Calibri"/>
              </a:defRPr>
            </a:pPr>
            <a:r>
              <a:t>(Bhuntar Rs 7,500/q, 251km) + Net profit after transport/commission/spoilage + Weather-timed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CBD5E1"/>
                </a:solidFill>
                <a:latin typeface="Calibri"/>
              </a:defRPr>
            </a:pPr>
            <a:r>
              <a:t>harvest advice + All in farmer's native language via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C55E"/>
                </a:solidFill>
                <a:latin typeface="Calibri"/>
              </a:defRPr>
            </a:pPr>
            <a:r>
              <a:t>6 Real-Time Data Sources Fused Per Request: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7373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886200"/>
            <a:ext cx="1371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6907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Sentinel-2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NDVI/EVI/NDWI</a:t>
            </a:r>
            <a:br/>
            <a:r>
              <a:t>10m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3749039"/>
            <a:ext cx="17373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3886200"/>
            <a:ext cx="1371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199" y="406907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Sentinel-1 SAR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Soil moisture</a:t>
            </a:r>
            <a:br/>
            <a:r>
              <a:t>through clouds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3749039"/>
            <a:ext cx="17373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3886200"/>
            <a:ext cx="1371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7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22C55E"/>
                </a:solidFill>
                <a:latin typeface="Calibri"/>
              </a:defRPr>
            </a:pPr>
            <a:r>
              <a:t>MODIS/SMAP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Temperature +</a:t>
            </a:r>
            <a:br/>
            <a:r>
              <a:t>root-zone moisture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749039"/>
            <a:ext cx="17373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59" y="3886200"/>
            <a:ext cx="1371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6907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9933"/>
                </a:solidFill>
                <a:latin typeface="Calibri"/>
              </a:defRPr>
            </a:pPr>
            <a:r>
              <a:t>AgMarkNet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Govt mandi prices</a:t>
            </a:r>
            <a:br/>
            <a:r>
              <a:t>106+ crops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49039"/>
            <a:ext cx="17373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388620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06907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Google Maps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Real driving distance</a:t>
            </a:r>
            <a:br/>
            <a:r>
              <a:t>to every mandi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3749039"/>
            <a:ext cx="17373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87000" y="3886200"/>
            <a:ext cx="1371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4069079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Open-Meteo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5-day forecast +</a:t>
            </a:r>
            <a:br/>
            <a:r>
              <a:t>120-day historical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Zero fake data. Every data point from a verified API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Multi-Agent Architecture (Google ADK)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5 specialist agents orchestrated by a Brain agent | Built on Google Agent Development Kit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5760720" cy="109728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0" y="1783080"/>
            <a:ext cx="53949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920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Brain (Orchestrator) — Gemini 3.1 Pro</a:t>
            </a:r>
          </a:p>
          <a:p>
            <a:pPr algn="ctr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Routes intents | Merges outputs | Enforces guardrails | Synthesizes advisory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269748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3337560"/>
            <a:ext cx="2423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38BDF8"/>
                </a:solidFill>
                <a:latin typeface="Calibri"/>
              </a:defRPr>
            </a:pPr>
            <a:r>
              <a:t>VaaniSetu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Voice Bridge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STT/TTS in 22 languages</a:t>
            </a:r>
            <a:br/>
            <a:r>
              <a:t>Intent extraction</a:t>
            </a:r>
            <a:br/>
            <a:r>
              <a:t>Language detection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Gemini 3 Flash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200400"/>
            <a:ext cx="269748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3337560"/>
            <a:ext cx="2423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5204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SatDrishti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Satellite Eye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Sentinel-2 NDVI/EVI/NDWI</a:t>
            </a:r>
            <a:br/>
            <a:r>
              <a:t>Health classification</a:t>
            </a:r>
            <a:br/>
            <a:r>
              <a:t>30-day trend detection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Gemini 3 Flash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00400"/>
            <a:ext cx="269748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3337560"/>
            <a:ext cx="242316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5204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F9933"/>
                </a:solidFill>
                <a:latin typeface="Calibri"/>
              </a:defRPr>
            </a:pPr>
            <a:r>
              <a:t>MandiMitra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Market Friend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AgMarkNet live prices</a:t>
            </a:r>
            <a:br/>
            <a:r>
              <a:t>Net profit ranking</a:t>
            </a:r>
            <a:br/>
            <a:r>
              <a:t>Transport + spoilage calc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Gemini 3 Flash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3200400"/>
            <a:ext cx="269748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3337560"/>
            <a:ext cx="2423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52044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38BDF8"/>
                </a:solidFill>
                <a:latin typeface="Calibri"/>
              </a:defRPr>
            </a:pPr>
            <a:r>
              <a:t>MausamGuru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Weather Guru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5-day forecast</a:t>
            </a:r>
            <a:br/>
            <a:r>
              <a:t>Crop-specific DO/DON'T</a:t>
            </a:r>
            <a:br/>
            <a:r>
              <a:t>Growth stage awareness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Gemini 3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10,110 lines of code  |  16 API endpoints  |  4 satellite systems  |  5 cloud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Intelligence Layer: Real Science, Not Heuristics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25603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291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4 Satellite Systems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Sentinel-2: NDVI = (B8-B4)/(B8+B4)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EVI = 2.5x((B8-B4)/(B8+6xB4-7.5xB2+1))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NDWI = (B3-B8)/(B3+B8)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10m resolution, &lt;30% cloud filter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Sentinel-1 SAR: VV+VH radar soil moisture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MODIS Terra: 1km daily land surface temp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NASA SMAP: 9km root-zone soil moisture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25603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329184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Growing Degree Days (GDD)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GDD = max(0, (Tmax+Tmin)/2 - Tbase)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120-day historical weather data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 crops modeled: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Tomato (base 10C): 6 growth stages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0/300/600/900/1200/1500 GDD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Wheat (base 5C): 6 stages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Rice, Potato, Onion, Capsicum,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Cabbage, Cauliflower, Apple, Mango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657600" cy="25603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417320"/>
            <a:ext cx="329184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9933"/>
                </a:solidFill>
                <a:latin typeface="Calibri"/>
              </a:defRPr>
            </a:pPr>
            <a:r>
              <a:t>Net Profit Ranking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Net Profit = Modal Price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- Transport (Rs 3.5/km/quintal)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- Commission (4% of price)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- Spoilage Loss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Spoilage rates per hour: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43F5E"/>
                </a:solidFill>
                <a:latin typeface="Calibri"/>
              </a:defRPr>
            </a:pPr>
            <a:r>
              <a:t>  Tomato: 0.5%/hr (high perishable)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FF9933"/>
                </a:solidFill>
                <a:latin typeface="Calibri"/>
              </a:defRPr>
            </a:pPr>
            <a:r>
              <a:t>  Potato: 0.2%/hr (medium)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2C55E"/>
                </a:solidFill>
                <a:latin typeface="Calibri"/>
              </a:defRPr>
            </a:pPr>
            <a:r>
              <a:t>  Wheat: 0.05%/hr (low)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Road winding factor: 1.3x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338560" cy="22860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51960"/>
            <a:ext cx="10972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Crop-Specific Weather Rules (5 crops with full rule sets)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Tomato: Frost &lt;10C, flower drop &gt;40C, heavy rain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&gt;20mm = harvest now, humidity &gt;85% = blight risk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Wheat: &lt;5C during heading = yield loss, &gt;30mm at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harvest = grain sprouting, &gt;90% humid = rust risk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Rice: &lt;15C = cold stress (maintain standing water),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&gt;50mm at flowering = excess flood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463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Apple: Frost &lt;-2C = severe (smudge pots needed),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&gt;25mm at fruit dev = cracking, &gt;80% humid = scab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Coffee: &lt;10C = berry damage, &gt;50mm = root rot,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humidity &lt;40% = irrigate immediately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8 cross-validation rules catch conflicts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(e.g., NDVI declining + adequate rain = pest issue)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Anti-Hallucination Guardrails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Every advisory is fact-checked, confidence-scored, and auditable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66928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0352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43F5E"/>
                </a:solidFill>
                <a:latin typeface="Calibri"/>
              </a:defRPr>
            </a:pPr>
            <a:r>
              <a:t>Compliance Rules (Enforced in Code)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 pesticide brand/dosage recommendations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-&gt; Refers to KVK helpline 1800-180-1551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 loan/credit/insurance advice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-&gt; Blocked in system prompt + fact-check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 yield guarantees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-&gt; All estimates marked 'indicative'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Mandatory data source citations with timestamps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Full audit trail: session_id, intent, agents,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783080"/>
            <a:ext cx="51206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Dual-LLM Fact-Check Architecture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1. Gemini 3.1 Pro generates advisory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2. Gemini Flash Lite cross-validates against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 raw source data (NDVI, prices, weather)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Confidence Scoring (0.0 - 1.0):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2C55E"/>
                </a:solidFill>
                <a:latin typeface="Calibri"/>
              </a:defRPr>
            </a:pPr>
            <a:r>
              <a:t>  HIGH (&gt;= 0.7): Full recommendation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F9933"/>
                </a:solidFill>
                <a:latin typeface="Calibri"/>
              </a:defRPr>
            </a:pPr>
            <a:r>
              <a:t>  MEDIUM (0.4-0.7): Hedged advice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43F5E"/>
                </a:solidFill>
                <a:latin typeface="Calibri"/>
              </a:defRPr>
            </a:pPr>
            <a:r>
              <a:t>  LOW (&lt; 0.4): Refer to KVK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  Each data layer scored independently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63440"/>
            <a:ext cx="11338560" cy="18288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800600"/>
            <a:ext cx="10972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8 Cross-Validation Rules (Conflict Detection)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1. NDVI declining + adequate rain -&gt; pest issue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2. NDVI healthy + farmer reports problem -&gt; old data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3. Price rising + high arrivals -&gt; unsustainable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4. Near harvest + NDVI plateau + good weather -&gt; pick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5. Frost warning -&gt; protect sensitive crops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6. SAR vs NDVI cross-check for soil moisture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7. MODIS LST heat stress detection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8. SMAP root-zone vs surface moisture mismatch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Voice-First: 22 Languages, Any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Cloud STT V2 + Cloud TTS Wavenet/Neural2 + Cloud Translation v3 + Twilio Voice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7132320" cy="22860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67665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Voice Interaction Pipeline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1. Farmer calls (+1 260-254-7946) or taps 'Call KisanMind' on web app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2. GPS auto-detects location (farmer only says their crop)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3. Cloud STT V2 transcribes speech in native language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4. Gemini extracts intent: crop, location, question type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5. Parallel data fetch: satellite + mandi + weather (farming trivia plays as filler)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6. Advisory synthesized in farmer's language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7. Cloud TTS Wavenet speaks response aloud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8. Multi-turn: farmer asks follow-ups (auto-ends after 3 silences)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4023360" cy="22860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783080"/>
            <a:ext cx="365760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202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F9933"/>
                </a:solidFill>
                <a:latin typeface="Calibri"/>
              </a:defRPr>
            </a:pPr>
            <a:r>
              <a:t>Native TTS (10 languages)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Hindi, English, Tamil, Telugu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Bengali, Marathi, Gujarati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Kannada, Malayalam, Punjabi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38BDF8"/>
                </a:solidFill>
                <a:latin typeface="Calibri"/>
              </a:defRPr>
            </a:pPr>
            <a:r>
              <a:t>Via Hindi bridge (12 more)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Odia, Assamese, Maithili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Sanskrit, Nepali, Sindhi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Dogri, Kashmiri, Konkani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Santali, Bodo, Manipuri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338560" cy="22860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109728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Performance &amp; 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737360" cy="128016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0.13s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L1 cache hit</a:t>
            </a:r>
            <a:br/>
            <a:r>
              <a:t>(in-memory)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39" y="4937760"/>
            <a:ext cx="1737360" cy="128016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507492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~200ms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L2 cache hit</a:t>
            </a:r>
            <a:br/>
            <a:r>
              <a:t>(Cloud Storage)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937760"/>
            <a:ext cx="1737360" cy="128016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507492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15-25s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Fresh advisory</a:t>
            </a:r>
            <a:br/>
            <a:r>
              <a:t>(all 6 APIs)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4937760"/>
            <a:ext cx="1737360" cy="128016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19" y="507492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2-4s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Voice latency</a:t>
            </a:r>
            <a:br/>
            <a:r>
              <a:t>(STT + TTS)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937760"/>
            <a:ext cx="1737360" cy="128016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07492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106+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Crops</a:t>
            </a:r>
            <a:br/>
            <a:r>
              <a:t>supported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937760"/>
            <a:ext cx="1737360" cy="128016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507492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2C55E"/>
                </a:solidFill>
                <a:latin typeface="Calibri"/>
              </a:defRPr>
            </a:pPr>
            <a:r>
              <a:t>10m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Satellite</a:t>
            </a:r>
            <a:br/>
            <a:r>
              <a:t>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Business Impact: Quantified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Back-of-envelope math with stated assumptions | Conservative Year 1 projections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01168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493776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9933"/>
                </a:solidFill>
                <a:latin typeface="Calibri"/>
              </a:defRPr>
            </a:pPr>
            <a:r>
              <a:t>Assumptions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TAM: 150M farming households in India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Year 1 reach: 100,000 farmers (0.07% penetration)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Avg farmer grows 2 crops/year, sells at 2-3 mandis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Mandi price variance: 30-40% across nearby markets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(from AgMarkNet data: e.g., Solan vs Shimla tomato)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Post-harvest loss: 16% for fruits/vegetables (ICAR data)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KisanMind reduces loss by ~5% via weather-timed harvest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Avg smallholder income: Rs 1,13,000/year (NABARD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463040"/>
            <a:ext cx="5852160" cy="201168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00200"/>
            <a:ext cx="5486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Per-Farmer Impact (Solan Tomato Example)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Mandi Price Arbitrage: +Rs 12,000/year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Solan mandi Rs 1800/q vs Shimla Rs 2400/q = Rs 600 gap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Less Rs 200 transport (60km x Rs 3.5/km/q) = Rs 400 net gain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x 30 quintals/season x 1 season = Rs 12,000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Weather-Timed Harvest: +Rs 10,000/year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Avoiding rain-damaged harvest (5% of Rs 2L gross)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Reduced Advisory Wait: +Rs 12,000/year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From days-to-get-KVK-advice -&gt; 15sec real-time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Total: Rs 34,000/year = 30% income increase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11338560" cy="283464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109728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Calibri"/>
              </a:defRPr>
            </a:pPr>
            <a:r>
              <a:t>Aggregate Impact (Year 1 — 100,000 farmers)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2651760" cy="182880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38BDF8"/>
                </a:solidFill>
                <a:latin typeface="Calibri"/>
              </a:defRPr>
            </a:pPr>
            <a:r>
              <a:t>TIME SAVED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38BDF8"/>
                </a:solidFill>
                <a:latin typeface="Calibri"/>
              </a:defRPr>
            </a:pPr>
            <a:r>
              <a:t>15 sec vs 2-3 days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Real-time satellite + mandi</a:t>
            </a:r>
            <a:br/>
            <a:r>
              <a:t>vs waiting for KVK visit.</a:t>
            </a:r>
            <a:br/>
            <a:r>
              <a:t>~3 days saved per decision</a:t>
            </a:r>
            <a:br/>
            <a:r>
              <a:t>x 10 decisions/season</a:t>
            </a:r>
            <a:br/>
            <a:r>
              <a:t>= 60 days saved/farmer/year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4572000"/>
            <a:ext cx="2651760" cy="182880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79" y="46634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9933"/>
                </a:solidFill>
                <a:latin typeface="Calibri"/>
              </a:defRPr>
            </a:pPr>
            <a:r>
              <a:t>COST REDUCED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F9933"/>
                </a:solidFill>
                <a:latin typeface="Calibri"/>
              </a:defRPr>
            </a:pPr>
            <a:r>
              <a:t>Rs 10,000/farmer/yr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5% post-harvest loss prevented</a:t>
            </a:r>
            <a:br/>
            <a:r>
              <a:t>via weather-timed harvesting.</a:t>
            </a:r>
            <a:br/>
            <a:r>
              <a:t>100K farmers x Rs 10K</a:t>
            </a:r>
            <a:br/>
            <a:r>
              <a:t>= Rs 100 crore saved</a:t>
            </a:r>
            <a:br/>
            <a:r>
              <a:t>in reduced crop wastage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572000"/>
            <a:ext cx="2651760" cy="182880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6634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2C55E"/>
                </a:solidFill>
                <a:latin typeface="Calibri"/>
              </a:defRPr>
            </a:pPr>
            <a:r>
              <a:t>REVENUE RECOVERED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22C55E"/>
                </a:solidFill>
                <a:latin typeface="Calibri"/>
              </a:defRPr>
            </a:pPr>
            <a:r>
              <a:t>Rs 12,000/farmer/yr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Mandi arbitrage: sell at best</a:t>
            </a:r>
            <a:br/>
            <a:r>
              <a:t>market, not nearest market.</a:t>
            </a:r>
            <a:br/>
            <a:r>
              <a:t>100K farmers x Rs 12K</a:t>
            </a:r>
            <a:br/>
            <a:r>
              <a:t>= Rs 120 crore recovered</a:t>
            </a:r>
            <a:br/>
            <a:r>
              <a:t>from price gap capture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572000"/>
            <a:ext cx="2651760" cy="1828800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663440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TOTAL IMPACT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Rs 220 crore/year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Rs 34,000/farmer x 100K</a:t>
            </a:r>
            <a:br/>
            <a:r>
              <a:t>= Rs 340 crore total value.</a:t>
            </a:r>
            <a:br/>
            <a:r>
              <a:t>At scale (1M farmers):</a:t>
            </a:r>
            <a:br/>
            <a:r>
              <a:t>Rs 3,400 crore/year</a:t>
            </a:r>
            <a:br/>
            <a:r>
              <a:t>= $400M annual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Tech Stack &amp; Google Cloud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669280" cy="5029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30352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Full Stack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LLM Layer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Gemini 3.1 Pro (advisory synthesis)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Gemini 3.1 Flash Lite (intent + fact-check)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Gemini Live (WebSocket voice streaming)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Satellite Layer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Google Earth Engine: Sentinel-2, Sentinel-1 SAR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MODIS Terra (1km LST), NASA SMAP (9km root-zone)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Voice Layer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Cloud STT V2 + Cloud TTS Wavenet/Neural2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Cloud Translation v3 (22 languages)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Twilio Voice + SMS (outbound calls, TwiML)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Application Layer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Frontend: Next.js 16, React 19, TypeScript, Tailwind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Backend: FastAPI, Python 3.12, async/await, uvicorn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Cache: L1 in-memory + L2 Google Cloud Storage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22C55E"/>
                </a:solidFill>
                <a:latin typeface="Calibri"/>
              </a:defRPr>
            </a:pPr>
            <a:r>
              <a:t>Data Layer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AgMarkNet / data.gov.in (106+ crop prices)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Open-Meteo (5-day + 120-day historical)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Google Maps (Distance Matrix, Places, Geocoding)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486400" cy="274320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512064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9933"/>
                </a:solidFill>
                <a:latin typeface="Calibri"/>
              </a:defRPr>
            </a:pPr>
            <a:r>
              <a:t>Google Cloud Services (11)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Earth Engine (satellite processing)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Cloud Run (backend: asia-south1)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Compute Engine (frontend VM)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Cloud Speech-to-Text V2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Cloud Text-to-Speech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Cloud Translation API v3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Cloud Storage (L2 cache)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Cloud Build + Artifact Registry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Maps Platform (3 APIs)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  Gemini API (3 model tiers)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486400" cy="21031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4343400"/>
            <a:ext cx="51206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22C55E"/>
                </a:solidFill>
                <a:latin typeface="Calibri"/>
              </a:defRPr>
            </a:pPr>
            <a:r>
              <a:t>2-Tier Persistent Cache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L1 In-Memory: 0.13s response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Advisory: 15min | NDVI: 6hr | Session: 10min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L2 Cloud Storage: ~200ms response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Mandi raw: 1hr | KVK: 30 days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  Survives deploys, pre-computed per district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38BDF8"/>
                </a:solidFill>
                <a:latin typeface="Calibri"/>
              </a:defRPr>
            </a:pPr>
            <a:r>
              <a:t>Every response includes data_age_minutes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KisanMind Wins: The Data Fusion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Each piece exists in isolation. No other solution fuses all six in real-time via voice.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51460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79" y="164592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KisanMind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45920"/>
            <a:ext cx="196596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59" y="17830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Kisan Call Center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AgriApps (DeHaat etc)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64592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7830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Govt Portals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423160"/>
            <a:ext cx="251460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79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Satellite crop health (NDVI)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79" y="2423160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4688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Real-time Sentinel-2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423160"/>
            <a:ext cx="196596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246887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423160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4688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2423160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4688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District aggregate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00400"/>
            <a:ext cx="251460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4612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Mandi price arbitrage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79" y="320040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2461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Net profit ranked</a:t>
            </a:r>
            <a:br/>
            <a:r>
              <a:t>(transport+spoilage)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200400"/>
            <a:ext cx="196596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59" y="32461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Verbal, delayed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20040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32461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Prices only,</a:t>
            </a:r>
            <a:br/>
            <a:r>
              <a:t>no transport calc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20040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Raw prices,</a:t>
            </a:r>
            <a:br/>
            <a:r>
              <a:t>no ranking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977639"/>
            <a:ext cx="251460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23359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Weather -&gt; crop 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26079" y="3977639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40233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Crop+stage specific</a:t>
            </a:r>
            <a:br/>
            <a:r>
              <a:t>DO/DON'T rules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3977639"/>
            <a:ext cx="196596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59" y="402335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Generic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3977639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0233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Generic forecast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3977639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402335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District level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754880"/>
            <a:ext cx="251460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0060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Voice in 22 languages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26079" y="475488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0" y="48006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Native TTS/STT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4754880"/>
            <a:ext cx="196596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59" y="4800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Hindi/English only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475488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48006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Text only, 2-3 langs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4754880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48006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Text only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5532120"/>
            <a:ext cx="251460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577840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Growth stage awareness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26079" y="5532120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5577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GDD from 120-day</a:t>
            </a:r>
            <a:br/>
            <a:r>
              <a:t>historical data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03520" y="5532120"/>
            <a:ext cx="196596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4959" y="55778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15200" y="5532120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5577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92640" y="5532120"/>
            <a:ext cx="2331720" cy="731519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5577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5760" y="6309359"/>
            <a:ext cx="251460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355079"/>
            <a:ext cx="23774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BD5E1"/>
                </a:solidFill>
                <a:latin typeface="Calibri"/>
              </a:defRPr>
            </a:pPr>
            <a:r>
              <a:t>Anti-hallucination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26079" y="6309359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17520" y="63550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Dual-LLM + 8 rules</a:t>
            </a:r>
            <a:br/>
            <a:r>
              <a:t>+ confidence scoring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0" y="6309359"/>
            <a:ext cx="196596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94959" y="6355079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N/A (human)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0" y="6309359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06640" y="63550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 guardrails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92640" y="6309359"/>
            <a:ext cx="2331720" cy="731519"/>
          </a:xfrm>
          <a:prstGeom prst="roundRect">
            <a:avLst/>
          </a:prstGeom>
          <a:solidFill>
            <a:srgbClr val="15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4080" y="63550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C55E"/>
                </a:solidFill>
                <a:latin typeface="Calibri"/>
              </a:defRPr>
            </a:pPr>
            <a:r>
              <a:t>KisanMind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BD5E1"/>
                </a:solidFill>
                <a:latin typeface="Calibri"/>
              </a:defRPr>
            </a:pPr>
            <a:r>
              <a:t>Satellite-to-Voice Intelligence for Every Indian Farmer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484632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22C55E"/>
                </a:solidFill>
                <a:latin typeface="Calibri"/>
              </a:defRPr>
            </a:pPr>
            <a:r>
              <a:t>150M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Farmers</a:t>
            </a:r>
            <a:br/>
            <a:r>
              <a:t>Addressable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22C55E"/>
                </a:solidFill>
                <a:latin typeface="Calibri"/>
              </a:defRPr>
            </a:pPr>
            <a:r>
              <a:t>4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Satellite</a:t>
            </a:r>
            <a:br/>
            <a: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22C55E"/>
                </a:solidFill>
                <a:latin typeface="Calibri"/>
              </a:defRPr>
            </a:pPr>
            <a:r>
              <a:t>22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Indian</a:t>
            </a:r>
            <a:br/>
            <a:r>
              <a:t>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22C55E"/>
                </a:solidFill>
                <a:latin typeface="Calibri"/>
              </a:defRPr>
            </a:pPr>
            <a:r>
              <a:t>Rs 34K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Income Gain</a:t>
            </a:r>
            <a:br/>
            <a:r>
              <a:t>Per Farmer/Year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32918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22C55E"/>
                </a:solidFill>
                <a:latin typeface="Calibri"/>
              </a:defRPr>
            </a:pPr>
            <a:r>
              <a:t>15 sec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Calibri"/>
              </a:defRPr>
            </a:pPr>
            <a:r>
              <a:t>Advisory</a:t>
            </a:r>
            <a:br/>
            <a:r>
              <a:t>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46320"/>
            <a:ext cx="8503920" cy="1188720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93776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38BDF8"/>
                </a:solidFill>
                <a:latin typeface="Calibri"/>
              </a:defRPr>
            </a:pPr>
            <a:r>
              <a:t>Live Now: kisanmind.dmj.one  |  Call: +1 260-254-7946</a:t>
            </a:r>
          </a:p>
          <a:p>
            <a:pPr algn="l">
              <a:spcAft>
                <a:spcPts val="6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000" b="0">
                <a:solidFill>
                  <a:srgbClr val="94A3B8"/>
                </a:solidFill>
                <a:latin typeface="Calibri"/>
              </a:defRPr>
            </a:pPr>
            <a:r>
              <a:t>GitHub: github.com/divyamohan1993/kisanmind  |  Contact: contact@dmj.one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ET AI Hackathon 2026  |  Problem #5: Domain-Specialized AI Agents with Compliance Guardrails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